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8" r:id="rId3"/>
    <p:sldId id="259" r:id="rId4"/>
    <p:sldId id="271" r:id="rId5"/>
    <p:sldId id="280" r:id="rId6"/>
    <p:sldId id="288" r:id="rId7"/>
    <p:sldId id="286" r:id="rId8"/>
    <p:sldId id="287" r:id="rId9"/>
    <p:sldId id="281" r:id="rId10"/>
    <p:sldId id="257" r:id="rId11"/>
    <p:sldId id="260" r:id="rId12"/>
    <p:sldId id="274" r:id="rId13"/>
    <p:sldId id="276" r:id="rId14"/>
    <p:sldId id="277" r:id="rId15"/>
    <p:sldId id="278" r:id="rId16"/>
    <p:sldId id="261" r:id="rId17"/>
    <p:sldId id="279" r:id="rId18"/>
    <p:sldId id="262" r:id="rId19"/>
    <p:sldId id="263" r:id="rId20"/>
    <p:sldId id="264" r:id="rId21"/>
    <p:sldId id="265" r:id="rId22"/>
    <p:sldId id="266" r:id="rId23"/>
    <p:sldId id="270" r:id="rId24"/>
    <p:sldId id="282" r:id="rId25"/>
    <p:sldId id="290" r:id="rId26"/>
    <p:sldId id="268" r:id="rId27"/>
    <p:sldId id="269" r:id="rId28"/>
    <p:sldId id="283" r:id="rId29"/>
    <p:sldId id="284" r:id="rId30"/>
    <p:sldId id="291" r:id="rId31"/>
    <p:sldId id="292" r:id="rId32"/>
    <p:sldId id="273" r:id="rId33"/>
    <p:sldId id="289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019"/>
    <p:restoredTop sz="59527"/>
  </p:normalViewPr>
  <p:slideViewPr>
    <p:cSldViewPr snapToGrid="0">
      <p:cViewPr varScale="1">
        <p:scale>
          <a:sx n="41" d="100"/>
          <a:sy n="41" d="100"/>
        </p:scale>
        <p:origin x="135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799093-0D14-3C41-855F-F105F65314A1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77D75E-8FF0-E344-8073-35D26FD3B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722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basic feedforward/backprop knowledge </a:t>
            </a:r>
          </a:p>
          <a:p>
            <a:r>
              <a:rPr lang="en-US" dirty="0"/>
              <a:t>but focusing on </a:t>
            </a:r>
            <a:r>
              <a:rPr lang="en-US" i="1" dirty="0"/>
              <a:t>what makes deep nets actually train</a:t>
            </a:r>
            <a:r>
              <a:rPr lang="en-US" dirty="0"/>
              <a:t>.</a:t>
            </a:r>
          </a:p>
          <a:p>
            <a:r>
              <a:rPr lang="en-US" dirty="0"/>
              <a:t>Frame the course: “Deep learning is less about fancy math, more about careful engineering of optimization stability.”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7D75E-8FF0-E344-8073-35D26FD3B8B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763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“AI winters” and why LeNet couldn’t scale — small data, slow hardware, poor regularization.</a:t>
            </a:r>
          </a:p>
          <a:p>
            <a:endParaRPr lang="en-US" dirty="0"/>
          </a:p>
          <a:p>
            <a:r>
              <a:rPr lang="en-US" dirty="0" err="1"/>
              <a:t>AlexNet</a:t>
            </a:r>
            <a:r>
              <a:rPr lang="en-US" dirty="0"/>
              <a:t> (2012) worked because of </a:t>
            </a:r>
            <a:r>
              <a:rPr lang="en-US" i="1" dirty="0"/>
              <a:t>GPUs, </a:t>
            </a:r>
            <a:r>
              <a:rPr lang="en-US" i="1" dirty="0" err="1"/>
              <a:t>ReLUs</a:t>
            </a:r>
            <a:r>
              <a:rPr lang="en-US" i="1" dirty="0"/>
              <a:t>, dropout, and data augmentation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Connect to your later sections: “These are exactly the ideas we’ll unpack today — normalization, regularization, better optimization.”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7D75E-8FF0-E344-8073-35D26FD3B8B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4151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modern deep networks — and even simpler models like random forests or kernel regressors — people observed something weird:</a:t>
            </a:r>
          </a:p>
          <a:p>
            <a:r>
              <a:rPr lang="en-US" dirty="0"/>
              <a:t>As model capacity continues to grow </a:t>
            </a:r>
            <a:r>
              <a:rPr lang="en-US" b="1" dirty="0"/>
              <a:t>beyond</a:t>
            </a:r>
            <a:r>
              <a:rPr lang="en-US" dirty="0"/>
              <a:t> the point of zero training error,</a:t>
            </a:r>
            <a:br>
              <a:rPr lang="en-US" dirty="0"/>
            </a:br>
            <a:r>
              <a:rPr lang="en-US" b="1" dirty="0"/>
              <a:t>test error starts to drop again.</a:t>
            </a:r>
            <a:endParaRPr lang="en-US" dirty="0"/>
          </a:p>
          <a:p>
            <a:r>
              <a:rPr lang="en-US" dirty="0"/>
              <a:t>That’s the </a:t>
            </a:r>
            <a:r>
              <a:rPr lang="en-US" b="1" dirty="0"/>
              <a:t>double descent curve</a:t>
            </a:r>
            <a:r>
              <a:rPr lang="en-US" dirty="0"/>
              <a:t>:</a:t>
            </a:r>
          </a:p>
          <a:p>
            <a:r>
              <a:rPr lang="en-US" dirty="0"/>
              <a:t>In overparameterized models, the loss surface becomes </a:t>
            </a:r>
            <a:r>
              <a:rPr lang="en-US" b="1" dirty="0"/>
              <a:t>flatter</a:t>
            </a:r>
            <a:r>
              <a:rPr lang="en-US" dirty="0"/>
              <a:t> and has many equivalent global minima.</a:t>
            </a:r>
          </a:p>
          <a:p>
            <a:r>
              <a:rPr lang="en-US" dirty="0"/>
              <a:t>SGD tends to converge to </a:t>
            </a:r>
            <a:r>
              <a:rPr lang="en-US" i="1" dirty="0"/>
              <a:t>flat</a:t>
            </a:r>
            <a:r>
              <a:rPr lang="en-US" dirty="0"/>
              <a:t> minima, which correspond to </a:t>
            </a:r>
            <a:r>
              <a:rPr lang="en-US" b="1" dirty="0"/>
              <a:t>low generalization error</a:t>
            </a:r>
            <a:r>
              <a:rPr lang="en-US" dirty="0"/>
              <a:t>.</a:t>
            </a:r>
          </a:p>
          <a:p>
            <a:r>
              <a:rPr lang="en-US" dirty="0"/>
              <a:t>In the </a:t>
            </a:r>
            <a:r>
              <a:rPr lang="en-US" b="1" dirty="0"/>
              <a:t>first descent</a:t>
            </a:r>
            <a:r>
              <a:rPr lang="en-US" dirty="0"/>
              <a:t>, regularization matters: too few parameters → underfit.</a:t>
            </a:r>
          </a:p>
          <a:p>
            <a:r>
              <a:rPr lang="en-US" dirty="0"/>
              <a:t>Near the </a:t>
            </a:r>
            <a:r>
              <a:rPr lang="en-US" b="1" dirty="0"/>
              <a:t>interpolation threshold</a:t>
            </a:r>
            <a:r>
              <a:rPr lang="en-US" dirty="0"/>
              <a:t>, test error peaks: high variance, unstable.</a:t>
            </a:r>
          </a:p>
          <a:p>
            <a:r>
              <a:rPr lang="en-US" dirty="0"/>
              <a:t>In the </a:t>
            </a:r>
            <a:r>
              <a:rPr lang="en-US" b="1" dirty="0"/>
              <a:t>second descent</a:t>
            </a:r>
            <a:r>
              <a:rPr lang="en-US" dirty="0"/>
              <a:t>, massive overparameterization smooths things again:</a:t>
            </a:r>
            <a:br>
              <a:rPr lang="en-US" dirty="0"/>
            </a:br>
            <a:r>
              <a:rPr lang="en-US" dirty="0"/>
              <a:t>the model generalizes well despite perfect fit to training data.</a:t>
            </a:r>
          </a:p>
          <a:p>
            <a:r>
              <a:rPr lang="en-US" dirty="0"/>
              <a:t>This explains why modern models with </a:t>
            </a:r>
            <a:r>
              <a:rPr lang="en-US" b="1" dirty="0"/>
              <a:t>billions of parameters</a:t>
            </a:r>
            <a:r>
              <a:rPr lang="en-US" dirty="0"/>
              <a:t> can still generalize well on natural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7D75E-8FF0-E344-8073-35D26FD3B8B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620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context: dropout encourages redundancy and robustness; weight decay discourages high-capacity memorization; data augmentation acts as implicit regularization.</a:t>
            </a:r>
          </a:p>
          <a:p>
            <a:r>
              <a:rPr lang="en-US" dirty="0"/>
              <a:t>Mention </a:t>
            </a:r>
            <a:r>
              <a:rPr lang="en-US" dirty="0" err="1"/>
              <a:t>AdamW</a:t>
            </a:r>
            <a:r>
              <a:rPr lang="en-US" dirty="0"/>
              <a:t> specifically: it decouples weight decay from adaptive updates, preserving true L2 regularization.</a:t>
            </a:r>
          </a:p>
          <a:p>
            <a:endParaRPr lang="en-US" dirty="0"/>
          </a:p>
          <a:p>
            <a:r>
              <a:rPr lang="en-US" dirty="0"/>
              <a:t>Techniques to prevent overfitting</a:t>
            </a:r>
          </a:p>
          <a:p>
            <a:pPr lvl="1"/>
            <a:r>
              <a:rPr lang="en-US" dirty="0"/>
              <a:t>Important in data-sparse settings</a:t>
            </a:r>
          </a:p>
          <a:p>
            <a:r>
              <a:rPr lang="en-US" dirty="0"/>
              <a:t>Biases optimization to simpler functions</a:t>
            </a:r>
          </a:p>
          <a:p>
            <a:r>
              <a:rPr lang="en-US" dirty="0"/>
              <a:t>Dropout</a:t>
            </a:r>
          </a:p>
          <a:p>
            <a:pPr lvl="1"/>
            <a:r>
              <a:rPr lang="en-US" dirty="0"/>
              <a:t>Less common as datasets get gigantic</a:t>
            </a:r>
          </a:p>
          <a:p>
            <a:r>
              <a:rPr lang="en-US" dirty="0"/>
              <a:t>L1/L2 penalties </a:t>
            </a:r>
          </a:p>
          <a:p>
            <a:r>
              <a:rPr lang="en-US" dirty="0" err="1"/>
              <a:t>AdamW</a:t>
            </a:r>
            <a:r>
              <a:rPr lang="en-US" dirty="0"/>
              <a:t> weight decay ~ L2 regularization</a:t>
            </a:r>
          </a:p>
          <a:p>
            <a:r>
              <a:rPr lang="en-US" dirty="0"/>
              <a:t>Data augmentation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7D75E-8FF0-E344-8073-35D26FD3B8B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5975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this is the </a:t>
            </a:r>
            <a:r>
              <a:rPr lang="en-US" i="1" dirty="0"/>
              <a:t>root reason</a:t>
            </a:r>
            <a:r>
              <a:rPr lang="en-US" dirty="0"/>
              <a:t> deep networks were unstable before ~2010.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7D75E-8FF0-E344-8073-35D26FD3B8B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038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7D75E-8FF0-E344-8073-35D26FD3B8B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9144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move from sigmoid/tanh to </a:t>
            </a:r>
            <a:r>
              <a:rPr lang="en-US" dirty="0" err="1"/>
              <a:t>ReLU</a:t>
            </a:r>
            <a:r>
              <a:rPr lang="en-US" dirty="0"/>
              <a:t> as the “turning point” in DL.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7D75E-8FF0-E344-8073-35D26FD3B8B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5137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7D75E-8FF0-E344-8073-35D26FD3B8B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2659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36F75-69D7-879A-B3B1-6D0ED9A7F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4AEE9-1C39-F530-8EB8-16ACB2DF6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CAD21F-2558-4EDE-A610-5204FC6B05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Why initialization is important for forward and backward passes early in training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66FB5-B1AC-A4FE-11D4-BFACDCE272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7D75E-8FF0-E344-8073-35D26FD3B8B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50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DE0B9-573E-771C-793A-7FD64BCA1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6A9B74-0DF1-580E-158A-44F0605593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09DC78-FE40-07A3-8D44-FB3D0B79B8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07612-008C-B5AA-8CD5-8191FC5953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7D75E-8FF0-E344-8073-35D26FD3B8B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452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698A5-1C28-8D5C-DFC5-D95E0485A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27E952-E5B7-08E9-A916-EC366A7EDB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06301-202B-D175-2399-D854E06992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9B79A-41D1-7951-D207-B20FF11304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7D75E-8FF0-E344-8073-35D26FD3B8B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3425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Michael Littman wake before dividing by zero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7D75E-8FF0-E344-8073-35D26FD3B8B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9684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Can work better than reducing precision; sometimes need more reduction than that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7D75E-8FF0-E344-8073-35D26FD3B8B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455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E6145-CC10-A7A9-E162-C57A887904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F6D419-CB09-4A34-25F4-9CEEAAFB49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5F82D-83D3-808C-7F83-E6E182D6F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229FB-30EE-1245-9DB3-C4AED3AC9F5F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1A1F33-DEA7-CDA3-2021-0A4E99B0A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68BED-F6D8-CC7C-E391-D7D38CB80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7E874-D1B9-EF4D-A7D0-456883D5B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834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2255D-0230-EE88-6561-9E8A7F0F4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1B407-AD1F-433F-D7CE-B43186AC8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4680B-7332-D4B6-F053-4E03D8420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229FB-30EE-1245-9DB3-C4AED3AC9F5F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E5ED2-AB2B-CBFC-7A1F-9C4C47B04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22C66-C404-C0F0-5800-96198BD34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7E874-D1B9-EF4D-A7D0-456883D5B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093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48AE7-4EC6-8738-C8CF-8F7054544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4F92-FBF0-0F55-B5EB-3331AA7A3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7D91D-5636-B8D2-4ECD-45080E747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229FB-30EE-1245-9DB3-C4AED3AC9F5F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7FE30-FB2B-4019-52BB-DCA8EB066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35A65-9E4C-DE57-3EB8-6462F3CD3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7E874-D1B9-EF4D-A7D0-456883D5B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077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528EB-5CE5-D0E2-A5F4-935E8F320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4939D-8182-78EE-E0C4-80E5DB79AF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AD008-7E76-E3F0-83E6-62D9115939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0EF2C2-9EC0-1238-20EC-5F7E13B34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229FB-30EE-1245-9DB3-C4AED3AC9F5F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8F6FB-5885-F4A9-7A26-7E556D3D3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D43B9-9A8F-DC2C-A6FF-B41B25DC0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7E874-D1B9-EF4D-A7D0-456883D5B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648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02D22-E20E-3D97-B118-B748A0719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30116E-1D41-079C-46C0-052DA6580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B6A9D1-9185-B91E-C22B-44D364B7BD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6D48ED-86D2-1E2D-5667-B2F75433DD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1954D1-26D3-269B-CAD4-905FF27844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16569B-BEC6-13B8-6938-6C6A90930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229FB-30EE-1245-9DB3-C4AED3AC9F5F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C4A2EB-8E9F-7AAE-F4E2-AFB0EA9D5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854214-89B5-6BFF-22A0-3884D5CCD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7E874-D1B9-EF4D-A7D0-456883D5B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00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84302-FDE4-7C87-F101-18002F80A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AEA78-8AAE-7EA1-2A58-D8F753107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229FB-30EE-1245-9DB3-C4AED3AC9F5F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AD0B1D-B0E9-2437-D2EC-2962031F4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F70909-7DDD-CDCB-2AE4-4BC34C142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7E874-D1B9-EF4D-A7D0-456883D5B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276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5DF45A-1AAF-B5F4-DA84-940919A4F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229FB-30EE-1245-9DB3-C4AED3AC9F5F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F85496-B084-1C74-7B50-99A3F07F7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7AF2F-57B4-531C-08AB-AF33320CB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7E874-D1B9-EF4D-A7D0-456883D5B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656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348C3-2EA1-FCE7-6BCE-D739F4BF4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1862C-8842-749F-9ADF-491AB8E5B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5A354D-9F65-4B9C-9435-5E46F2228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1A88A-12B5-59CF-E7A3-CE9037D8C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229FB-30EE-1245-9DB3-C4AED3AC9F5F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0F08A-8591-CE9C-DDE4-0E28ABCE3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514FFD-5A05-C2AA-F2F2-227ABD10B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7E874-D1B9-EF4D-A7D0-456883D5B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009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C53C3-2E92-C674-7CF7-FD4A4FFFA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7017BF-F5E2-5CFB-650E-25C0668CA2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D8A5A-8BF8-098D-3EB7-0A9FD0C7C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02E89-C31A-3A1B-E5B4-E8329AC93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229FB-30EE-1245-9DB3-C4AED3AC9F5F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988441-2C8A-AF86-965F-303D9665B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D916E-5810-F7C3-829D-CBAAC86D0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7E874-D1B9-EF4D-A7D0-456883D5B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694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C94FA-4730-7D7A-8A06-219B0B235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6F386A-2748-E4A5-AFC5-3A80D3331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AF26D-6BCB-496B-22C1-6DB165457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229FB-30EE-1245-9DB3-C4AED3AC9F5F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14A71-21CC-EEFB-980A-8A837144B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AA1A3-CC9D-1970-272E-F8D4A9DD8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7E874-D1B9-EF4D-A7D0-456883D5B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265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E8545A-F33F-1744-6588-552DB07E98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D53B9A-BDBD-B9EA-C7C9-42F05685DE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E1871-8B39-1C22-F69A-BB5FB5AAD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229FB-30EE-1245-9DB3-C4AED3AC9F5F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B35D6-A0BD-0502-189F-D137C37F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2BE9F-A360-5712-49A6-6B6F6AC3F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7E874-D1B9-EF4D-A7D0-456883D5B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68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073C76-93AC-F25E-9AF9-7EBE9DAB6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C5A97-EF31-EC35-C5A6-12B911062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E4D48-9D7A-B583-12AE-B8F0882A08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1229FB-30EE-1245-9DB3-C4AED3AC9F5F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120BD-8B11-009C-6D2A-C2C7A95BDF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890EC-5F55-99B5-E287-42AE5CDAF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87E874-D1B9-EF4D-A7D0-456883D5BD3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A89768-69CB-E5B8-F000-676FD15DD14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83275" y="6642100"/>
            <a:ext cx="4508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500704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576-025-00839-w" TargetMode="External"/><Relationship Id="rId2" Type="http://schemas.openxmlformats.org/officeDocument/2006/relationships/hyperlink" Target="https://worksinprogress.co/issue/the-algorithm-will-see-you-now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dsr.mitpress.mit.edu/pub/wot7mkc1/release/10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mailto:aweinstein@eit.or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FC3D3-A1C5-329F-9707-7051B28B61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Deep Learning 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27DDE2-D7C7-3600-A819-A91527B07C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Ari Weinstein</a:t>
            </a:r>
          </a:p>
          <a:p>
            <a:r>
              <a:rPr lang="en-US" dirty="0"/>
              <a:t>Ellison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2283482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569"/>
    </mc:Choice>
    <mc:Fallback xmlns="">
      <p:transition spd="slow" advTm="1956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FB40B-9493-5F6D-25E4-758D9CEEE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F15B6-F0FF-364C-4B84-0C2391B0B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Theoretical Intuition</a:t>
            </a:r>
          </a:p>
          <a:p>
            <a:r>
              <a:rPr lang="en-US" dirty="0"/>
              <a:t>Core Building Blocks</a:t>
            </a:r>
          </a:p>
          <a:p>
            <a:r>
              <a:rPr lang="en-US" dirty="0"/>
              <a:t>Training Dynamics &amp; Debugging, </a:t>
            </a:r>
            <a:r>
              <a:rPr lang="en-US" dirty="0" err="1"/>
              <a:t>AdamW</a:t>
            </a:r>
            <a:endParaRPr lang="en-US" dirty="0"/>
          </a:p>
          <a:p>
            <a:r>
              <a:rPr lang="en-US" dirty="0"/>
              <a:t>Advanced Issues</a:t>
            </a:r>
          </a:p>
        </p:txBody>
      </p:sp>
    </p:spTree>
    <p:extLst>
      <p:ext uri="{BB962C8B-B14F-4D97-AF65-F5344CB8AC3E}">
        <p14:creationId xmlns:p14="http://schemas.microsoft.com/office/powerpoint/2010/main" val="562826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743"/>
    </mc:Choice>
    <mc:Fallback xmlns="">
      <p:transition spd="slow" advTm="8274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88F03-DFDF-FA0B-82AC-48834584A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59A4E-052F-7FE6-7026-4B0DDC7E8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 is to ensure common core understanding:</a:t>
            </a:r>
          </a:p>
          <a:p>
            <a:pPr lvl="1"/>
            <a:r>
              <a:rPr lang="en-US" dirty="0"/>
              <a:t>What is needed for deep learning (DL) to work</a:t>
            </a:r>
          </a:p>
          <a:p>
            <a:pPr lvl="1"/>
            <a:r>
              <a:rPr lang="en-US" dirty="0"/>
              <a:t>DL building blocks that accomplish this</a:t>
            </a:r>
          </a:p>
          <a:p>
            <a:r>
              <a:rPr lang="en-US" dirty="0"/>
              <a:t>Other lectures will focus on advanced topics (vision, sequence/text, reinforcement learning)</a:t>
            </a:r>
          </a:p>
          <a:p>
            <a:r>
              <a:rPr lang="en-US" dirty="0"/>
              <a:t>Assume basic knowledge on feedforward networks and backprop</a:t>
            </a:r>
          </a:p>
          <a:p>
            <a:r>
              <a:rPr lang="en-US" dirty="0"/>
              <a:t>This is a survey; goal is to give you some knowledge and you can dig into areas as needed later</a:t>
            </a:r>
          </a:p>
        </p:txBody>
      </p:sp>
    </p:spTree>
    <p:extLst>
      <p:ext uri="{BB962C8B-B14F-4D97-AF65-F5344CB8AC3E}">
        <p14:creationId xmlns:p14="http://schemas.microsoft.com/office/powerpoint/2010/main" val="3896011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183"/>
    </mc:Choice>
    <mc:Fallback xmlns="">
      <p:transition spd="slow" advTm="10118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93ACF-EC4E-8E57-4D19-9A89F24BA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LeNet vs </a:t>
            </a:r>
            <a:r>
              <a:rPr lang="en-US" dirty="0" err="1"/>
              <a:t>AlexNet</a:t>
            </a:r>
            <a:r>
              <a:rPr lang="en-US" dirty="0"/>
              <a:t> (Introduction)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8CD40-DD6E-8DF4-9A24-F418C434A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497330"/>
          </a:xfrm>
        </p:spPr>
        <p:txBody>
          <a:bodyPr>
            <a:normAutofit/>
          </a:bodyPr>
          <a:lstStyle/>
          <a:p>
            <a:r>
              <a:rPr lang="en-US" dirty="0"/>
              <a:t>What was needed to get deep learning to work</a:t>
            </a:r>
          </a:p>
          <a:p>
            <a:r>
              <a:rPr lang="en-US" dirty="0"/>
              <a:t>There was a period of great excitement around NNs (late 80s-90s)</a:t>
            </a:r>
          </a:p>
          <a:p>
            <a:pPr lvl="1"/>
            <a:r>
              <a:rPr lang="en-US" dirty="0"/>
              <a:t>But early progress didn’t continue, and approach was largely ignored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1CC098-BE6E-0143-1F2E-139E567ABB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31386"/>
              </p:ext>
            </p:extLst>
          </p:nvPr>
        </p:nvGraphicFramePr>
        <p:xfrm>
          <a:off x="3134367" y="3429000"/>
          <a:ext cx="5923265" cy="3023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3543">
                  <a:extLst>
                    <a:ext uri="{9D8B030D-6E8A-4147-A177-3AD203B41FA5}">
                      <a16:colId xmlns:a16="http://schemas.microsoft.com/office/drawing/2014/main" val="308493759"/>
                    </a:ext>
                  </a:extLst>
                </a:gridCol>
                <a:gridCol w="2084075">
                  <a:extLst>
                    <a:ext uri="{9D8B030D-6E8A-4147-A177-3AD203B41FA5}">
                      <a16:colId xmlns:a16="http://schemas.microsoft.com/office/drawing/2014/main" val="2639691501"/>
                    </a:ext>
                  </a:extLst>
                </a:gridCol>
                <a:gridCol w="2285647">
                  <a:extLst>
                    <a:ext uri="{9D8B030D-6E8A-4147-A177-3AD203B41FA5}">
                      <a16:colId xmlns:a16="http://schemas.microsoft.com/office/drawing/2014/main" val="3009709974"/>
                    </a:ext>
                  </a:extLst>
                </a:gridCol>
              </a:tblGrid>
              <a:tr h="289056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LeNet-5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AlexNet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769682"/>
                  </a:ext>
                </a:extLst>
              </a:tr>
              <a:tr h="289056">
                <a:tc>
                  <a:txBody>
                    <a:bodyPr/>
                    <a:lstStyle/>
                    <a:p>
                      <a:r>
                        <a:rPr lang="en-US" sz="1600" dirty="0"/>
                        <a:t>When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2012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20652"/>
                  </a:ext>
                </a:extLst>
              </a:tr>
              <a:tr h="505848">
                <a:tc>
                  <a:txBody>
                    <a:bodyPr/>
                    <a:lstStyle/>
                    <a:p>
                      <a:r>
                        <a:rPr lang="en-US" sz="1600" dirty="0"/>
                        <a:t>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 (digits)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1K (natural images)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591060"/>
                  </a:ext>
                </a:extLst>
              </a:tr>
              <a:tr h="289056">
                <a:tc>
                  <a:txBody>
                    <a:bodyPr/>
                    <a:lstStyle/>
                    <a:p>
                      <a:r>
                        <a:rPr lang="en-US" sz="1600" dirty="0"/>
                        <a:t>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60M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732637"/>
                  </a:ext>
                </a:extLst>
              </a:tr>
              <a:tr h="289056">
                <a:tc>
                  <a:txBody>
                    <a:bodyPr/>
                    <a:lstStyle/>
                    <a:p>
                      <a:r>
                        <a:rPr lang="en-US" sz="1600" dirty="0"/>
                        <a:t>Corpus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60K b/w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1.2M </a:t>
                      </a:r>
                      <a:r>
                        <a:rPr lang="en-US" sz="1600" dirty="0" err="1"/>
                        <a:t>rgb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6253248"/>
                  </a:ext>
                </a:extLst>
              </a:tr>
              <a:tr h="289056">
                <a:tc>
                  <a:txBody>
                    <a:bodyPr/>
                    <a:lstStyle/>
                    <a:p>
                      <a:r>
                        <a:rPr lang="en-US" sz="1600" dirty="0"/>
                        <a:t>Activation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tanh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relu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05098"/>
                  </a:ext>
                </a:extLst>
              </a:tr>
              <a:tr h="505848">
                <a:tc>
                  <a:txBody>
                    <a:bodyPr/>
                    <a:lstStyle/>
                    <a:p>
                      <a:r>
                        <a:rPr lang="en-US" sz="1600" dirty="0"/>
                        <a:t>Regularization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dropout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4691391"/>
                  </a:ext>
                </a:extLst>
              </a:tr>
              <a:tr h="289056">
                <a:tc>
                  <a:txBody>
                    <a:bodyPr/>
                    <a:lstStyle/>
                    <a:p>
                      <a:r>
                        <a:rPr lang="en-US" sz="1600" dirty="0"/>
                        <a:t>Compute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GPU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83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8429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8996"/>
    </mc:Choice>
    <mc:Fallback xmlns="">
      <p:transition spd="slow" advTm="268996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77397-01FA-CE45-5E7E-B2A912B2F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Deep Learning in the past 10+ years  (Introduction)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C3FEC-81EC-C7CA-B3F8-03098C10C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Huge increase in data</a:t>
            </a:r>
          </a:p>
          <a:p>
            <a:r>
              <a:rPr lang="en-US" dirty="0"/>
              <a:t>Huge advances in computational hardware for these models</a:t>
            </a:r>
          </a:p>
          <a:p>
            <a:pPr lvl="1"/>
            <a:r>
              <a:rPr lang="en-US" dirty="0"/>
              <a:t>New architectures that work well on hardware (ex/ transformers vs RNN)</a:t>
            </a:r>
          </a:p>
          <a:p>
            <a:r>
              <a:rPr lang="en-US" dirty="0"/>
              <a:t>Controlling model complexity (regularization)</a:t>
            </a:r>
          </a:p>
          <a:p>
            <a:r>
              <a:rPr lang="en-US" dirty="0"/>
              <a:t>Controlling activations and gradients (normalization)</a:t>
            </a:r>
          </a:p>
          <a:p>
            <a:r>
              <a:rPr lang="en-US" dirty="0"/>
              <a:t>Not much in the way of meaningful science or mathematical advances</a:t>
            </a:r>
          </a:p>
        </p:txBody>
      </p:sp>
    </p:spTree>
    <p:extLst>
      <p:ext uri="{BB962C8B-B14F-4D97-AF65-F5344CB8AC3E}">
        <p14:creationId xmlns:p14="http://schemas.microsoft.com/office/powerpoint/2010/main" val="2498209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2813"/>
    </mc:Choice>
    <mc:Fallback xmlns="">
      <p:transition spd="slow" advTm="12281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D668-D47F-578E-A853-E701DC68C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Theoretical Intuitions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90FCB-D28A-6303-F7E4-CF1BC48A1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Bias/Variance Tradeoff: model complexity and fit</a:t>
            </a:r>
          </a:p>
          <a:p>
            <a:pPr lvl="1"/>
            <a:r>
              <a:rPr lang="en-US" dirty="0"/>
              <a:t>Addressed by regularization</a:t>
            </a:r>
          </a:p>
          <a:p>
            <a:r>
              <a:rPr lang="en-US" dirty="0"/>
              <a:t>Exploding/Vanishing Gradients: keeping DL machinery working</a:t>
            </a:r>
          </a:p>
          <a:p>
            <a:pPr lvl="1"/>
            <a:r>
              <a:rPr lang="en-US" dirty="0"/>
              <a:t>Addressed by normalization</a:t>
            </a:r>
          </a:p>
        </p:txBody>
      </p:sp>
    </p:spTree>
    <p:extLst>
      <p:ext uri="{BB962C8B-B14F-4D97-AF65-F5344CB8AC3E}">
        <p14:creationId xmlns:p14="http://schemas.microsoft.com/office/powerpoint/2010/main" val="2334259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905"/>
    </mc:Choice>
    <mc:Fallback xmlns="">
      <p:transition spd="slow" advTm="3890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AD3A6-DB71-E188-376D-CABDFD093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Bias/Variance Tradeoff (Theoretical Intuitions)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DD8243-9088-A610-C4CF-290259E88A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In an ideal world, we know the form of the equation we are modelling</a:t>
                </a:r>
              </a:p>
              <a:p>
                <a:pPr lvl="1"/>
                <a:r>
                  <a:rPr lang="en-US" dirty="0"/>
                  <a:t>Works in Newtonian physics, not in language modelling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𝐸𝑟𝑟𝑜𝑟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𝐵𝑖𝑎𝑠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𝑉𝑎𝑟𝑖𝑎𝑛𝑐𝑒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+∈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Simpler models: more bias, less variance (underfitting)</a:t>
                </a:r>
              </a:p>
              <a:p>
                <a:r>
                  <a:rPr lang="en-US" dirty="0"/>
                  <a:t>Complex models: less bias, more variance (overfitting)</a:t>
                </a:r>
              </a:p>
              <a:p>
                <a:r>
                  <a:rPr lang="en-US" dirty="0"/>
                  <a:t>Data ~makes overfitting go away</a:t>
                </a:r>
              </a:p>
              <a:p>
                <a:r>
                  <a:rPr lang="en-US" dirty="0"/>
                  <a:t>Double-descent: overparametrized models don’t always overfit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DD8243-9088-A610-C4CF-290259E88A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4690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7685"/>
    </mc:Choice>
    <mc:Fallback xmlns="">
      <p:transition spd="slow" advTm="167685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B8D05-1E43-6A63-F6AD-5063A3091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Regularization (Theoretical Intuitions)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E148A-2B2F-4889-A499-B0821924C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Because of bias/variance tradeoff, in naïve modelling there is U-shaped profile of accuracy across model complexity</a:t>
            </a:r>
          </a:p>
          <a:p>
            <a:r>
              <a:rPr lang="en-US" dirty="0"/>
              <a:t>Ideally, modelling would control complexity and try to find the sweet spot by itself</a:t>
            </a:r>
          </a:p>
          <a:p>
            <a:r>
              <a:rPr lang="en-US" dirty="0"/>
              <a:t>There is a whole literature on regularization, we heavily rely on</a:t>
            </a:r>
          </a:p>
          <a:p>
            <a:pPr lvl="1"/>
            <a:r>
              <a:rPr lang="en-US" dirty="0"/>
              <a:t>Dropout (especially useful in lower-data regimes)</a:t>
            </a:r>
          </a:p>
          <a:p>
            <a:pPr lvl="1"/>
            <a:r>
              <a:rPr lang="en-US" dirty="0"/>
              <a:t>Weight decay in </a:t>
            </a:r>
            <a:r>
              <a:rPr lang="en-US" dirty="0" err="1"/>
              <a:t>AdamW</a:t>
            </a:r>
            <a:r>
              <a:rPr lang="en-US" dirty="0"/>
              <a:t> (L2 regularization)</a:t>
            </a:r>
          </a:p>
          <a:p>
            <a:r>
              <a:rPr lang="en-US" dirty="0"/>
              <a:t>Data augmentation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933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4121"/>
    </mc:Choice>
    <mc:Fallback xmlns="">
      <p:transition spd="slow" advTm="19412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7DA25-3B68-FBD4-1DD5-F82AEDEBD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700" dirty="0"/>
              <a:t>Vanishing, Exploding Gradients (Theoretical Intuitions)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E2D3A1-2A76-6768-63E8-48F01FEE69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Loss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, weight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GB" b="0" dirty="0"/>
                  <a:t>, layer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b="0" dirty="0"/>
                  <a:t> 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f>
                          <m:f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GB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fName>
                      <m:e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∝</m:t>
                        </m:r>
                      </m:e>
                    </m:func>
                    <m:d>
                      <m:d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∏"/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f>
                              <m:fPr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den>
                            </m:f>
                          </m:e>
                        </m:nary>
                      </m:e>
                    </m:d>
                  </m:oMath>
                </a14:m>
                <a:r>
                  <a:rPr lang="en-US" dirty="0"/>
                  <a:t>  -- chain rule</a:t>
                </a:r>
              </a:p>
              <a:p>
                <a:r>
                  <a:rPr lang="en-US" dirty="0"/>
                  <a:t>Because there is a long chain of products (large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) this naturally wants to go one of two ways:</a:t>
                </a:r>
              </a:p>
              <a:p>
                <a:r>
                  <a:rPr lang="en-US" dirty="0"/>
                  <a:t>Most grads &lt; 1; gradient quickly decays to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GB" b="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Training stops</a:t>
                </a:r>
              </a:p>
              <a:p>
                <a:r>
                  <a:rPr lang="en-US" dirty="0"/>
                  <a:t>Most grads &gt; 1; gradient quickly explodes</a:t>
                </a:r>
              </a:p>
              <a:p>
                <a:pPr lvl="1"/>
                <a:r>
                  <a:rPr lang="en-US" dirty="0"/>
                  <a:t>Huge weight updates, training diverges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E2D3A1-2A76-6768-63E8-48F01FEE69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7716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175"/>
    </mc:Choice>
    <mc:Fallback xmlns="">
      <p:transition spd="slow" advTm="76175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BFD34-3AF8-CE96-DC94-D67E674F2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Building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A0A71-734E-C3B3-83E5-8F4899053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Activation Functions</a:t>
            </a:r>
          </a:p>
          <a:p>
            <a:pPr lvl="1"/>
            <a:r>
              <a:rPr lang="en-US" dirty="0"/>
              <a:t>How can we make sure activations propagate forward, gradients propagate backward effectively </a:t>
            </a:r>
          </a:p>
          <a:p>
            <a:r>
              <a:rPr lang="en-US" dirty="0"/>
              <a:t>Normalization</a:t>
            </a:r>
          </a:p>
          <a:p>
            <a:pPr lvl="1"/>
            <a:r>
              <a:rPr lang="en-US" dirty="0"/>
              <a:t>How to speed and stabilize training</a:t>
            </a:r>
          </a:p>
        </p:txBody>
      </p:sp>
    </p:spTree>
    <p:extLst>
      <p:ext uri="{BB962C8B-B14F-4D97-AF65-F5344CB8AC3E}">
        <p14:creationId xmlns:p14="http://schemas.microsoft.com/office/powerpoint/2010/main" val="3938891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473"/>
    </mc:Choice>
    <mc:Fallback xmlns="">
      <p:transition spd="slow" advTm="58473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AE004-91B4-E183-3000-02E5A2377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 Functions (Core Building Blocks)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111C4-3CC5-9D1C-EA3C-77009F65E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practice, extremely simple change was a key to modern DL</a:t>
            </a:r>
          </a:p>
          <a:p>
            <a:r>
              <a:rPr lang="en-US" dirty="0"/>
              <a:t>Sigmoid/Tanh, were used, but suffered from vanishing gradients</a:t>
            </a:r>
          </a:p>
          <a:p>
            <a:r>
              <a:rPr lang="en-US" dirty="0" err="1"/>
              <a:t>ReLU</a:t>
            </a:r>
            <a:r>
              <a:rPr lang="en-US" dirty="0"/>
              <a:t> can fixes this, but has other problems</a:t>
            </a:r>
          </a:p>
          <a:p>
            <a:r>
              <a:rPr lang="en-US" dirty="0"/>
              <a:t>Swish, </a:t>
            </a:r>
            <a:r>
              <a:rPr lang="en-US" dirty="0" err="1"/>
              <a:t>Swiglu</a:t>
            </a:r>
            <a:r>
              <a:rPr lang="en-US" dirty="0"/>
              <a:t> : How can we take the advantages of </a:t>
            </a:r>
            <a:r>
              <a:rPr lang="en-US" dirty="0" err="1"/>
              <a:t>ReLUs</a:t>
            </a:r>
            <a:r>
              <a:rPr lang="en-US" dirty="0"/>
              <a:t> but further improve</a:t>
            </a:r>
          </a:p>
          <a:p>
            <a:r>
              <a:rPr lang="en-US" dirty="0"/>
              <a:t>Bonus: Residual Connections: Solution to gradient flow issues</a:t>
            </a:r>
          </a:p>
        </p:txBody>
      </p:sp>
    </p:spTree>
    <p:extLst>
      <p:ext uri="{BB962C8B-B14F-4D97-AF65-F5344CB8AC3E}">
        <p14:creationId xmlns:p14="http://schemas.microsoft.com/office/powerpoint/2010/main" val="553941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908"/>
    </mc:Choice>
    <mc:Fallback xmlns="">
      <p:transition spd="slow" advTm="77908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072FA-C15B-BB9C-5017-52947374A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TanH</a:t>
            </a:r>
            <a:r>
              <a:rPr lang="en-US" dirty="0"/>
              <a:t> (Activation Functions)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4CF4E6-4AD3-C757-DD61-8F6455A6DB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Theoretically, any nonlinearity is fine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tanh</m:t>
                        </m:r>
                      </m:fName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GB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GB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Problem with vanishing gradients</a:t>
                </a:r>
                <a:endParaRPr lang="en-GB" b="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Max grad of 1 at 0</a:t>
                </a:r>
              </a:p>
              <a:p>
                <a:pPr lvl="1"/>
                <a:r>
                  <a:rPr lang="en-US" dirty="0"/>
                  <a:t>“Saturates” with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tanh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GB" b="0" dirty="0">
                  <a:ea typeface="Cambria Math" panose="02040503050406030204" pitchFamily="18" charset="0"/>
                </a:endParaRPr>
              </a:p>
              <a:p>
                <a:r>
                  <a:rPr lang="en-GB" dirty="0">
                    <a:ea typeface="Cambria Math" panose="02040503050406030204" pitchFamily="18" charset="0"/>
                  </a:rPr>
                  <a:t>Extreme simplification helped DL progress</a:t>
                </a:r>
                <a:endParaRPr lang="en-GB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4CF4E6-4AD3-C757-DD61-8F6455A6DB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4FE4E77-6BB8-2741-611D-69F7479D2B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3492"/>
          <a:stretch>
            <a:fillRect/>
          </a:stretch>
        </p:blipFill>
        <p:spPr>
          <a:xfrm>
            <a:off x="7627434" y="1825627"/>
            <a:ext cx="3367048" cy="1731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898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506"/>
    </mc:Choice>
    <mc:Fallback xmlns="">
      <p:transition spd="slow" advTm="61506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94017-D84E-05F2-82BF-053F35D47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Recitified</a:t>
            </a:r>
            <a:r>
              <a:rPr lang="en-US" dirty="0"/>
              <a:t> Linear Unit (Activation Functions)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462D51-4673-620E-4CF4-FD63423FB4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𝑅𝑒𝐿𝑈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⁡(0,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𝑅𝑒𝐿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&lt;0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&gt;0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One of the key pieces for DL</a:t>
                </a:r>
              </a:p>
              <a:p>
                <a:r>
                  <a:rPr lang="en-US" dirty="0"/>
                  <a:t>Gradients (on positive activation) flow perfectly</a:t>
                </a:r>
              </a:p>
              <a:p>
                <a:r>
                  <a:rPr lang="en-US" dirty="0"/>
                  <a:t>But also kills gradient flow on negative activation (like tanh)</a:t>
                </a:r>
              </a:p>
              <a:p>
                <a:pPr lvl="1"/>
                <a:r>
                  <a:rPr lang="en-US" dirty="0"/>
                  <a:t>Gets stuck here, leading to “Dead </a:t>
                </a:r>
                <a:r>
                  <a:rPr lang="en-US" dirty="0" err="1"/>
                  <a:t>ReLU</a:t>
                </a:r>
                <a:r>
                  <a:rPr lang="en-US" dirty="0"/>
                  <a:t>”</a:t>
                </a:r>
              </a:p>
              <a:p>
                <a:r>
                  <a:rPr lang="en-US" dirty="0"/>
                  <a:t>Yet another fix was needed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462D51-4673-620E-4CF4-FD63423FB4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8953" b="-5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F441DDC-8FDF-480E-49B6-DCFEABCA23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710"/>
          <a:stretch>
            <a:fillRect/>
          </a:stretch>
        </p:blipFill>
        <p:spPr>
          <a:xfrm>
            <a:off x="8080385" y="1690689"/>
            <a:ext cx="3092160" cy="1738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25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440"/>
    </mc:Choice>
    <mc:Fallback xmlns="">
      <p:transition spd="slow" advTm="6144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C2C8F-0F1F-C290-8B60-55B38188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Swish (Activation Functions)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B6C741-57F8-ECE6-39D9-BA94E86356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𝑆𝑤𝑖𝑠h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For large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Similar to </a:t>
                </a:r>
                <a:r>
                  <a:rPr lang="en-US" dirty="0" err="1"/>
                  <a:t>ReLU</a:t>
                </a:r>
                <a:r>
                  <a:rPr lang="en-US" dirty="0"/>
                  <a:t>, but ”softer”</a:t>
                </a:r>
              </a:p>
              <a:p>
                <a:r>
                  <a:rPr lang="en-US" dirty="0"/>
                  <a:t>Has nonzero gradients, does not “die” </a:t>
                </a:r>
              </a:p>
              <a:p>
                <a:r>
                  <a:rPr lang="en-US" dirty="0"/>
                  <a:t>Activations are example of engineering (iterative refinement) driving DL progress</a:t>
                </a:r>
              </a:p>
              <a:p>
                <a:r>
                  <a:rPr lang="en-US" dirty="0"/>
                  <a:t>Other advances like </a:t>
                </a:r>
                <a:r>
                  <a:rPr lang="en-US" dirty="0" err="1"/>
                  <a:t>SwiGLU</a:t>
                </a:r>
                <a:r>
                  <a:rPr lang="en-US" dirty="0"/>
                  <a:t> more complex, used in transformers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B6C741-57F8-ECE6-39D9-BA94E86356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78536BC-FA05-DF6B-54E9-87BF131A9F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375"/>
          <a:stretch>
            <a:fillRect/>
          </a:stretch>
        </p:blipFill>
        <p:spPr>
          <a:xfrm>
            <a:off x="8133350" y="1690689"/>
            <a:ext cx="3220450" cy="206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132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66"/>
    </mc:Choice>
    <mc:Fallback xmlns="">
      <p:transition spd="slow" advTm="5366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F22EC-A3B4-A712-937A-2C2247EEB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Residual Connections (Core Building Blocks)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7B9C1C-80FE-3999-11EF-0B75DF7A5E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Don’t make layers relearn a whole new function, just a change</a:t>
                </a:r>
                <a:endParaRPr lang="en-GB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GB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GB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, for activation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, layer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GB" dirty="0"/>
                  <a:t>T</a:t>
                </a:r>
                <a:r>
                  <a:rPr lang="en-US" dirty="0"/>
                  <a:t>here is always a direct gradient path from loss to early layers</a:t>
                </a:r>
              </a:p>
              <a:p>
                <a:pPr lvl="1"/>
                <a:r>
                  <a:rPr lang="en-US" dirty="0"/>
                  <a:t>Even if</a:t>
                </a:r>
                <a14:m>
                  <m:oMath xmlns:m="http://schemas.openxmlformats.org/officeDocument/2006/math">
                    <m:r>
                      <a:rPr lang="en-GB" b="0" i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suffers from ~0 gradients; solves vanishing gradient problem</a:t>
                </a:r>
              </a:p>
              <a:p>
                <a:r>
                  <a:rPr lang="en-US" dirty="0"/>
                  <a:t>Tends to be an easier function to learn, and more stable</a:t>
                </a:r>
              </a:p>
              <a:p>
                <a:r>
                  <a:rPr lang="en-US" dirty="0"/>
                  <a:t>Allowed first networks to be trained into 1K layers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7B9C1C-80FE-3999-11EF-0B75DF7A5E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5337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3547"/>
    </mc:Choice>
    <mc:Fallback xmlns="">
      <p:transition spd="slow" advTm="103547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C9B14-9A37-7C67-D045-FD8A6140C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 (Core Building Blocks)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3DF56-492D-C4A7-227E-E5777E0BA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Forces activations to be of a consistent distribution</a:t>
            </a:r>
          </a:p>
          <a:p>
            <a:r>
              <a:rPr lang="en-US" dirty="0"/>
              <a:t>Helps resolve vanishing/exploding gradients (activations are never overall too big or small)</a:t>
            </a:r>
          </a:p>
          <a:p>
            <a:pPr lvl="1"/>
            <a:r>
              <a:rPr lang="en-US" dirty="0"/>
              <a:t>Easier to train deep nets</a:t>
            </a:r>
          </a:p>
          <a:p>
            <a:r>
              <a:rPr lang="en-US" dirty="0"/>
              <a:t>Helps early in training where dynamics can be unstable</a:t>
            </a:r>
          </a:p>
          <a:p>
            <a:r>
              <a:rPr lang="en-US" dirty="0"/>
              <a:t>Reduces the need for careful initialization</a:t>
            </a:r>
          </a:p>
          <a:p>
            <a:r>
              <a:rPr lang="en-US" dirty="0" err="1"/>
              <a:t>BatchNorm</a:t>
            </a:r>
            <a:r>
              <a:rPr lang="en-US" dirty="0"/>
              <a:t>, </a:t>
            </a:r>
            <a:r>
              <a:rPr lang="en-US" dirty="0" err="1"/>
              <a:t>LayerNorm</a:t>
            </a:r>
            <a:r>
              <a:rPr lang="en-US" dirty="0"/>
              <a:t>, </a:t>
            </a:r>
            <a:r>
              <a:rPr lang="en-US" dirty="0" err="1"/>
              <a:t>RMSNorm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285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2962"/>
    </mc:Choice>
    <mc:Fallback xmlns="">
      <p:transition spd="slow" advTm="172962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ABFAF-BEF9-148E-BD1D-D3F193EAA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forms (Normalization)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9528D-7467-4090-467F-2BF605C1C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Batch Norm: normalizes activations of a single neuron in a batch to have zero mean, unit variance</a:t>
            </a:r>
          </a:p>
          <a:p>
            <a:pPr lvl="1"/>
            <a:r>
              <a:rPr lang="en-US" dirty="0"/>
              <a:t>More common in CNNs w/large </a:t>
            </a:r>
            <a:r>
              <a:rPr lang="en-US" dirty="0" err="1"/>
              <a:t>bactches</a:t>
            </a:r>
            <a:endParaRPr lang="en-US" dirty="0"/>
          </a:p>
          <a:p>
            <a:r>
              <a:rPr lang="en-US" dirty="0"/>
              <a:t>Layer Norm: normalizes the activation of a single sample across a layer</a:t>
            </a:r>
          </a:p>
          <a:p>
            <a:pPr lvl="1"/>
            <a:r>
              <a:rPr lang="en-US" dirty="0"/>
              <a:t>Common in Transformers (smaller batch sizes)</a:t>
            </a:r>
          </a:p>
          <a:p>
            <a:r>
              <a:rPr lang="en-US" dirty="0"/>
              <a:t>RMS Norm: Similar to Layer Norm but simpler</a:t>
            </a:r>
          </a:p>
          <a:p>
            <a:pPr lvl="1"/>
            <a:r>
              <a:rPr lang="en-US" dirty="0"/>
              <a:t>Most modern transformers use this, as cheaper to compute</a:t>
            </a:r>
          </a:p>
        </p:txBody>
      </p:sp>
    </p:spTree>
    <p:extLst>
      <p:ext uri="{BB962C8B-B14F-4D97-AF65-F5344CB8AC3E}">
        <p14:creationId xmlns:p14="http://schemas.microsoft.com/office/powerpoint/2010/main" val="657798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66"/>
    </mc:Choice>
    <mc:Fallback xmlns="">
      <p:transition spd="slow" advTm="6466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C0EC1-9141-7CD6-9653-748AFA97A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Regularization (Core Building Blocks)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F30BC-753D-0BBB-5B77-03A4C51DB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Techniques to prevent overfitting</a:t>
            </a:r>
          </a:p>
          <a:p>
            <a:pPr lvl="1"/>
            <a:r>
              <a:rPr lang="en-US" dirty="0"/>
              <a:t>Important in data-sparse settings</a:t>
            </a:r>
          </a:p>
          <a:p>
            <a:r>
              <a:rPr lang="en-US" dirty="0"/>
              <a:t>Biases optimization to simpler functions</a:t>
            </a:r>
          </a:p>
          <a:p>
            <a:r>
              <a:rPr lang="en-US" dirty="0"/>
              <a:t>Dropout</a:t>
            </a:r>
          </a:p>
          <a:p>
            <a:pPr lvl="1"/>
            <a:r>
              <a:rPr lang="en-US" dirty="0"/>
              <a:t>Less common as datasets get gigantic</a:t>
            </a:r>
          </a:p>
          <a:p>
            <a:r>
              <a:rPr lang="en-US" dirty="0"/>
              <a:t>L1/L2 penalties </a:t>
            </a:r>
          </a:p>
          <a:p>
            <a:r>
              <a:rPr lang="en-US" dirty="0" err="1"/>
              <a:t>AdamW</a:t>
            </a:r>
            <a:r>
              <a:rPr lang="en-US" dirty="0"/>
              <a:t> weight decay ~ L2 regularization</a:t>
            </a:r>
          </a:p>
          <a:p>
            <a:r>
              <a:rPr lang="en-US" dirty="0"/>
              <a:t>Data augmentation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1115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86CD3-5044-DFA4-FD85-F7F278FC6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7AE88-BD73-3F8E-7AB5-7597CE097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Outline: Training Dynamics and Optimizers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1DFBB-A672-B9B5-D3AE-E671B8E0F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Initialization: Setting your network up for success</a:t>
            </a:r>
          </a:p>
          <a:p>
            <a:r>
              <a:rPr lang="en-US" dirty="0"/>
              <a:t>Optimizers (</a:t>
            </a:r>
            <a:r>
              <a:rPr lang="en-US" dirty="0" err="1"/>
              <a:t>AdamW</a:t>
            </a:r>
            <a:r>
              <a:rPr lang="en-US" dirty="0"/>
              <a:t>)</a:t>
            </a:r>
          </a:p>
          <a:p>
            <a:r>
              <a:rPr lang="en-US" dirty="0"/>
              <a:t>Learning Rate Schedules: </a:t>
            </a:r>
          </a:p>
          <a:p>
            <a:r>
              <a:rPr lang="en-US" dirty="0"/>
              <a:t>When Training Goes Wrong: Numeric and other Issues</a:t>
            </a:r>
          </a:p>
        </p:txBody>
      </p:sp>
    </p:spTree>
    <p:extLst>
      <p:ext uri="{BB962C8B-B14F-4D97-AF65-F5344CB8AC3E}">
        <p14:creationId xmlns:p14="http://schemas.microsoft.com/office/powerpoint/2010/main" val="4009966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238"/>
    </mc:Choice>
    <mc:Fallback xmlns="">
      <p:transition spd="slow" advTm="48238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5BB77-2ED0-A8E7-91E1-EF44283E2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78A91-CFF4-F63E-1631-BA1E8EC0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Initialization (Dynamics, Optimizers)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5451F2-811E-5DF6-3745-5F3BC7A064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Initialization used to be critical, poor initialization lead to vanishing/exploding activation/gradients</a:t>
                </a:r>
              </a:p>
              <a:p>
                <a:r>
                  <a:rPr lang="en-US" dirty="0"/>
                  <a:t>Normalization largely fixes this, but </a:t>
                </a:r>
                <a:r>
                  <a:rPr lang="en-US" dirty="0" err="1"/>
                  <a:t>init</a:t>
                </a:r>
                <a:r>
                  <a:rPr lang="en-US" dirty="0"/>
                  <a:t> still matters</a:t>
                </a:r>
              </a:p>
              <a:p>
                <a:r>
                  <a:rPr lang="en-US" dirty="0"/>
                  <a:t>(</a:t>
                </a:r>
                <a:r>
                  <a:rPr lang="en-US" dirty="0" err="1"/>
                  <a:t>Glorot</a:t>
                </a:r>
                <a:r>
                  <a:rPr lang="en-US" dirty="0"/>
                  <a:t>) Xavier initialization: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0, </m:t>
                        </m:r>
                        <m:f>
                          <m:fPr>
                            <m:ctrlP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𝑖𝑛</m:t>
                                </m:r>
                              </m:sub>
                            </m:sSub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𝑜𝑢𝑡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Other common techniques are similar and tailored to activation/arch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5451F2-811E-5DF6-3745-5F3BC7A064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2670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410"/>
    </mc:Choice>
    <mc:Fallback xmlns="">
      <p:transition spd="slow" advTm="8141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84823-BBB6-123B-31B5-81F171BAB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5FA88-45D5-BFD4-7716-32760871C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AdamW</a:t>
            </a:r>
            <a:r>
              <a:rPr lang="en-US" dirty="0"/>
              <a:t> (Dynamics, Optimizers)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5CB40E-76D5-6944-8E76-9D9C008C9B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Used almost everywhere now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 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b="0" dirty="0"/>
                  <a:t>  (mean of gradients)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 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GB" dirty="0"/>
                  <a:t> (mean of squared gradients, for adaptive scaling)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rad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For LR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dirty="0"/>
                  <a:t>, momentum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, weight decay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, stability term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Regularization built into the optimizer (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Robust to </a:t>
                </a:r>
                <a:r>
                  <a:rPr lang="en-US" dirty="0" err="1"/>
                  <a:t>hyperparams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5CB40E-76D5-6944-8E76-9D9C008C9B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 b="-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4332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743"/>
    </mc:Choice>
    <mc:Fallback xmlns="">
      <p:transition spd="slow" advTm="88743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BCFC2-D841-CAC4-4A97-8949DD98F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D4D73-0DDD-7A49-C500-A4EBF943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Rate Schedules (Dynamics, Optimizers)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419E2D-3228-8900-41B6-8314E8797B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High learning rate dangerous with random </a:t>
                </a:r>
                <a:r>
                  <a:rPr lang="en-US" dirty="0" err="1"/>
                  <a:t>init</a:t>
                </a:r>
                <a:endParaRPr lang="en-US" dirty="0"/>
              </a:p>
              <a:p>
                <a:r>
                  <a:rPr lang="en-US" dirty="0"/>
                  <a:t>Usually start with low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dirty="0"/>
                  <a:t> and “warm up”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After warm up period reduce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Step decay: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dirty="0"/>
                  <a:t>, for epoch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Change often too abrupt; not common anymore</a:t>
                </a:r>
              </a:p>
              <a:p>
                <a:r>
                  <a:rPr lang="en-US" dirty="0"/>
                  <a:t>Cosine annealing: 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+0.5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𝑎𝑥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func>
                        <m:f>
                          <m:fPr>
                            <m:type m:val="lin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Most common is warmup followed by cos annealing (small, big, small updates)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419E2D-3228-8900-41B6-8314E8797B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 t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12ABBAD-D1A5-048E-BD02-3F3A42CA1C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992"/>
          <a:stretch>
            <a:fillRect/>
          </a:stretch>
        </p:blipFill>
        <p:spPr>
          <a:xfrm>
            <a:off x="8679542" y="1690689"/>
            <a:ext cx="2674257" cy="217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332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9750"/>
    </mc:Choice>
    <mc:Fallback xmlns="">
      <p:transition spd="slow" advTm="13975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F6385-0627-06B5-542B-6BADFC6D3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Numerics</a:t>
            </a:r>
            <a:r>
              <a:rPr lang="en-US" dirty="0"/>
              <a:t> (Generalization &amp; Advanced Issues)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02D08-94A1-7337-606C-157222FCD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be hard to track down (use tooling)</a:t>
            </a:r>
          </a:p>
          <a:p>
            <a:r>
              <a:rPr lang="en-US" dirty="0"/>
              <a:t>Computers store approximations of reals, can go wrong</a:t>
            </a:r>
          </a:p>
          <a:p>
            <a:pPr lvl="1"/>
            <a:r>
              <a:rPr lang="en-US" dirty="0"/>
              <a:t>Overflow (becomes inf), underflow (becomes 0), ruins gradients</a:t>
            </a:r>
          </a:p>
          <a:p>
            <a:r>
              <a:rPr lang="en-US" dirty="0"/>
              <a:t>Issues can arise at any point (early, late in training)</a:t>
            </a:r>
          </a:p>
          <a:p>
            <a:r>
              <a:rPr lang="en-US" dirty="0"/>
              <a:t>Use gradient clipping, loss scaling, check for </a:t>
            </a:r>
            <a:r>
              <a:rPr lang="en-US" dirty="0" err="1"/>
              <a:t>NaN</a:t>
            </a:r>
            <a:r>
              <a:rPr lang="en-US" dirty="0"/>
              <a:t> and inf</a:t>
            </a:r>
          </a:p>
          <a:p>
            <a:r>
              <a:rPr lang="en-US" dirty="0"/>
              <a:t>When developing, make smaller nets with large representations (float32), then move to experimenting with less/mixed precision on larger networks</a:t>
            </a:r>
          </a:p>
          <a:p>
            <a:r>
              <a:rPr lang="en-US" dirty="0"/>
              <a:t>Get shallow wide nets to work, then go deeper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380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1165"/>
    </mc:Choice>
    <mc:Fallback xmlns="">
      <p:transition spd="slow" advTm="281165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91F72-DCE4-5E29-2E91-FF45BD9EC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Numerics</a:t>
            </a:r>
            <a:r>
              <a:rPr lang="en-US" dirty="0"/>
              <a:t> (Generalization &amp; Advanced Issues)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296BB0-6882-F82C-9213-A14837430A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Warmup</a:t>
                </a:r>
              </a:p>
              <a:p>
                <a:r>
                  <a:rPr lang="en-US" dirty="0"/>
                  <a:t>Normalization</a:t>
                </a:r>
              </a:p>
              <a:p>
                <a:r>
                  <a:rPr lang="en-US" dirty="0"/>
                  <a:t>Gradient clipping</a:t>
                </a:r>
              </a:p>
              <a:p>
                <a:r>
                  <a:rPr lang="en-US" dirty="0"/>
                  <a:t>Work in log-space: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…</m:t>
                            </m:r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unc>
                          <m:func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Training:</a:t>
                </a:r>
              </a:p>
              <a:p>
                <a:pPr lvl="1"/>
                <a:r>
                  <a:rPr lang="en-US" dirty="0"/>
                  <a:t>Plateaus: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dirty="0"/>
                  <a:t> too small</a:t>
                </a:r>
              </a:p>
              <a:p>
                <a:pPr lvl="1"/>
                <a:r>
                  <a:rPr lang="en-US" dirty="0"/>
                  <a:t>Spikes: Check for </a:t>
                </a:r>
                <a:r>
                  <a:rPr lang="en-US" dirty="0" err="1"/>
                  <a:t>NaN</a:t>
                </a:r>
                <a:r>
                  <a:rPr lang="en-US" dirty="0"/>
                  <a:t>, Inf, zeros where they don’t belong (log, divisor) </a:t>
                </a:r>
              </a:p>
              <a:p>
                <a:pPr lvl="1"/>
                <a:r>
                  <a:rPr lang="en-US" dirty="0"/>
                  <a:t>Divergence: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dirty="0"/>
                  <a:t> too high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296BB0-6882-F82C-9213-A14837430A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882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948"/>
    </mc:Choice>
    <mc:Fallback xmlns="">
      <p:transition spd="slow" advTm="109948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79337-9544-3586-F68A-B68F40C5B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 Checklist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4B7AB-51BE-A979-4A89-65EE95616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sure any data can run through model and produce gradient</a:t>
            </a:r>
          </a:p>
          <a:p>
            <a:r>
              <a:rPr lang="en-US" dirty="0"/>
              <a:t>If dataset is not vetted, check data cleanliness (inf, Nan, missing </a:t>
            </a:r>
            <a:r>
              <a:rPr lang="en-US" dirty="0" err="1"/>
              <a:t>val</a:t>
            </a:r>
            <a:r>
              <a:rPr lang="en-US" dirty="0"/>
              <a:t>, ranges)</a:t>
            </a:r>
            <a:endParaRPr lang="en-US" b="1" dirty="0"/>
          </a:p>
          <a:p>
            <a:r>
              <a:rPr lang="en-US" dirty="0"/>
              <a:t>Overfit tiny subset of data</a:t>
            </a:r>
          </a:p>
          <a:p>
            <a:r>
              <a:rPr lang="en-US" dirty="0"/>
              <a:t>Go from small to large learning rates during testing</a:t>
            </a:r>
          </a:p>
          <a:p>
            <a:r>
              <a:rPr lang="en-US" dirty="0"/>
              <a:t>Examine gradient norms, especially early in training</a:t>
            </a:r>
          </a:p>
          <a:p>
            <a:pPr lvl="1"/>
            <a:r>
              <a:rPr lang="en-US" dirty="0"/>
              <a:t>If large, use normalization, gradient clipping</a:t>
            </a:r>
          </a:p>
        </p:txBody>
      </p:sp>
    </p:spTree>
    <p:extLst>
      <p:ext uri="{BB962C8B-B14F-4D97-AF65-F5344CB8AC3E}">
        <p14:creationId xmlns:p14="http://schemas.microsoft.com/office/powerpoint/2010/main" val="20523021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B7E75-D46D-A85C-D039-AC0E341F8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8FF98-3CA3-5429-9821-927C26FF2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Outline: Advanced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28283-762C-E1B9-6957-9AC86FC38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Real-World Data Issues</a:t>
            </a:r>
          </a:p>
          <a:p>
            <a:pPr lvl="1"/>
            <a:r>
              <a:rPr lang="en-US" dirty="0"/>
              <a:t>When life isn’t as easy as MNIST</a:t>
            </a:r>
          </a:p>
          <a:p>
            <a:r>
              <a:rPr lang="en-US" dirty="0"/>
              <a:t>Representation Learning</a:t>
            </a:r>
          </a:p>
          <a:p>
            <a:r>
              <a:rPr lang="en-US" dirty="0"/>
              <a:t>Fine Tuning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852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435"/>
    </mc:Choice>
    <mc:Fallback xmlns="">
      <p:transition spd="slow" advTm="14435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7E6B1-32DB-D0DF-1156-1049F8C24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Data Issues (Advanced Topics)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50C40-A910-3470-2282-AB1D24300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Increasingly important as DL systems are in use in society</a:t>
            </a:r>
          </a:p>
          <a:p>
            <a:r>
              <a:rPr lang="en-US" dirty="0"/>
              <a:t>IID assumption is core in ML often doesn’t hold</a:t>
            </a:r>
          </a:p>
          <a:p>
            <a:r>
              <a:rPr lang="en-US" dirty="0"/>
              <a:t>Importance of diverse / representative data</a:t>
            </a:r>
          </a:p>
          <a:p>
            <a:r>
              <a:rPr lang="en-US" dirty="0"/>
              <a:t>Data balance</a:t>
            </a:r>
          </a:p>
          <a:p>
            <a:r>
              <a:rPr lang="en-US" dirty="0"/>
              <a:t>Error types (type 1 vs 2) </a:t>
            </a:r>
          </a:p>
          <a:p>
            <a:r>
              <a:rPr lang="en-US" dirty="0"/>
              <a:t>Data pedigree</a:t>
            </a:r>
          </a:p>
          <a:p>
            <a:r>
              <a:rPr lang="en-US" dirty="0"/>
              <a:t>Train/test split, data leakage</a:t>
            </a:r>
          </a:p>
          <a:p>
            <a:r>
              <a:rPr lang="en-US" dirty="0"/>
              <a:t>Calibration</a:t>
            </a:r>
          </a:p>
          <a:p>
            <a:r>
              <a:rPr lang="en-US" dirty="0"/>
              <a:t>Runaway feedback loops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B70F1-90B7-3550-AD8B-091DEAC3C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56350"/>
            <a:ext cx="5094514" cy="365125"/>
          </a:xfrm>
        </p:spPr>
        <p:txBody>
          <a:bodyPr/>
          <a:lstStyle/>
          <a:p>
            <a:pPr lvl="1"/>
            <a:r>
              <a:rPr lang="en-US" sz="1200" dirty="0">
                <a:hlinkClick r:id="rId2"/>
              </a:rPr>
              <a:t>https://worksinprogress.co/issue/the-algorithm-will-see-you-now/</a:t>
            </a:r>
            <a:endParaRPr lang="en-US" sz="1200" dirty="0"/>
          </a:p>
          <a:p>
            <a:pPr lvl="1"/>
            <a:r>
              <a:rPr lang="en-US" sz="1200" dirty="0">
                <a:hlinkClick r:id="rId3"/>
              </a:rPr>
              <a:t>https://www.nature.com/articles/s41576-025-00839-w</a:t>
            </a:r>
            <a:endParaRPr lang="en-US" sz="1200" dirty="0"/>
          </a:p>
          <a:p>
            <a:pPr lvl="1"/>
            <a:r>
              <a:rPr lang="en-US" sz="1200" dirty="0">
                <a:hlinkClick r:id="rId4"/>
              </a:rPr>
              <a:t>https://hdsr.mitpress.mit.edu/pub/wot7mkc1/release/10</a:t>
            </a:r>
            <a:endParaRPr lang="en-US" sz="1200" dirty="0"/>
          </a:p>
          <a:p>
            <a:pPr lvl="1"/>
            <a:r>
              <a:rPr lang="en-US" sz="1200" dirty="0"/>
              <a:t>https://</a:t>
            </a:r>
            <a:r>
              <a:rPr lang="en-US" sz="1200" dirty="0" err="1"/>
              <a:t>academic.oup.com</a:t>
            </a:r>
            <a:r>
              <a:rPr lang="en-US" sz="1200" dirty="0"/>
              <a:t>/</a:t>
            </a:r>
            <a:r>
              <a:rPr lang="en-US" sz="1200" dirty="0" err="1"/>
              <a:t>jrssig</a:t>
            </a:r>
            <a:r>
              <a:rPr lang="en-US" sz="1200" dirty="0"/>
              <a:t>/article/13/5/14/7029190</a:t>
            </a:r>
          </a:p>
          <a:p>
            <a:pPr lvl="1"/>
            <a:endParaRPr lang="en-US" sz="1200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575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6952"/>
    </mc:Choice>
    <mc:Fallback xmlns="">
      <p:transition spd="slow" advTm="666952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7C9EB-C16A-9620-5F0C-1AC41DFC9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Representation Learning (Advanced Topics)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3849E-8B3C-1C1B-3BC1-DCC892D11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Fundamental strength of deep learning is ability of models to learn meaningful representations of data</a:t>
            </a:r>
          </a:p>
          <a:p>
            <a:r>
              <a:rPr lang="en-US" dirty="0"/>
              <a:t>Take potentially disparate modalities of data and produce rich and meaningful vector embeddings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5BA4C3-0337-BB10-8FB1-6338F4403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7228" y="3641274"/>
            <a:ext cx="5377543" cy="24245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16ADA1-92DD-5F14-D9CC-B411EBA8062F}"/>
              </a:ext>
            </a:extLst>
          </p:cNvPr>
          <p:cNvSpPr txBox="1"/>
          <p:nvPr/>
        </p:nvSpPr>
        <p:spPr>
          <a:xfrm>
            <a:off x="2286000" y="6181726"/>
            <a:ext cx="8707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Scaling </a:t>
            </a:r>
            <a:r>
              <a:rPr lang="en-US" b="1" dirty="0" err="1"/>
              <a:t>Monosemanticity</a:t>
            </a:r>
            <a:r>
              <a:rPr lang="en-US" b="1" dirty="0"/>
              <a:t>: Extracting Interpretable Features from Claude 3 Sonnet</a:t>
            </a:r>
          </a:p>
        </p:txBody>
      </p:sp>
    </p:spTree>
    <p:extLst>
      <p:ext uri="{BB962C8B-B14F-4D97-AF65-F5344CB8AC3E}">
        <p14:creationId xmlns:p14="http://schemas.microsoft.com/office/powerpoint/2010/main" val="4094921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541"/>
    </mc:Choice>
    <mc:Fallback xmlns="">
      <p:transition spd="slow" advTm="7154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181CB-E889-0E3E-931B-49D9E28FC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Representation Learning (Advanced Topics)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A0E03-7103-120E-19DD-31AE72882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Good representations allow for robust generalization</a:t>
            </a:r>
          </a:p>
          <a:p>
            <a:r>
              <a:rPr lang="en-US" dirty="0"/>
              <a:t>Enables broad downstream use, and efficient fine tuning</a:t>
            </a:r>
          </a:p>
          <a:p>
            <a:r>
              <a:rPr lang="en-US" dirty="0"/>
              <a:t>In modern techniques, driven primarily by unsupervised learning</a:t>
            </a:r>
          </a:p>
          <a:p>
            <a:pPr lvl="1"/>
            <a:r>
              <a:rPr lang="en-US" dirty="0"/>
              <a:t>Autoregressive prediction</a:t>
            </a:r>
          </a:p>
          <a:p>
            <a:pPr lvl="1"/>
            <a:r>
              <a:rPr lang="en-US" dirty="0"/>
              <a:t>Contrastive encoding</a:t>
            </a:r>
          </a:p>
          <a:p>
            <a:r>
              <a:rPr lang="en-US" dirty="0"/>
              <a:t>What makes foundation models so flexible and powerful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458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012"/>
    </mc:Choice>
    <mc:Fallback xmlns="">
      <p:transition spd="slow" advTm="59012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04BCD-9DDA-9E7F-7B67-E1A48498A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 Tuning (Advanced Topics)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0A62F-3BAA-3F8D-E644-7D2BA7270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Increasingly important, as foundation models dominate modern ML</a:t>
            </a:r>
          </a:p>
          <a:p>
            <a:r>
              <a:rPr lang="en-US" dirty="0"/>
              <a:t>Sometimes you can’t zero-shot your way to what you want</a:t>
            </a:r>
          </a:p>
          <a:p>
            <a:pPr lvl="1"/>
            <a:r>
              <a:rPr lang="en-US" dirty="0"/>
              <a:t>Ex/ RL loops for LLM coding</a:t>
            </a:r>
          </a:p>
          <a:p>
            <a:r>
              <a:rPr lang="en-US" dirty="0"/>
              <a:t>Usually no need to tune entire model</a:t>
            </a:r>
          </a:p>
          <a:p>
            <a:pPr lvl="1"/>
            <a:r>
              <a:rPr lang="en-US" dirty="0" err="1"/>
              <a:t>LoRA</a:t>
            </a:r>
            <a:r>
              <a:rPr lang="en-US" dirty="0"/>
              <a:t> &amp; others allow fine-tuning tiny amount of params</a:t>
            </a:r>
          </a:p>
          <a:p>
            <a:pPr lvl="1"/>
            <a:r>
              <a:rPr lang="en-US" dirty="0"/>
              <a:t>Helpful when Hardware isn’t same as original training</a:t>
            </a:r>
          </a:p>
          <a:p>
            <a:r>
              <a:rPr lang="en-US" dirty="0"/>
              <a:t>Often only small amount of data is needed</a:t>
            </a:r>
          </a:p>
        </p:txBody>
      </p:sp>
    </p:spTree>
    <p:extLst>
      <p:ext uri="{BB962C8B-B14F-4D97-AF65-F5344CB8AC3E}">
        <p14:creationId xmlns:p14="http://schemas.microsoft.com/office/powerpoint/2010/main" val="22400625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E792A-2157-10F8-1231-58B8A9256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Distillation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EF6506-EEE6-7EFD-F520-8C4518AEDB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Transfer capabilities from one model (teacher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) to another (student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Usually large to small model</a:t>
                </a:r>
              </a:p>
              <a:p>
                <a:pPr lvl="1"/>
                <a:r>
                  <a:rPr lang="en-US" dirty="0"/>
                  <a:t>But can be for other reasons; across modality</a:t>
                </a:r>
              </a:p>
              <a:p>
                <a:r>
                  <a:rPr lang="en-US" dirty="0"/>
                  <a:t>Identify data you care about, query source model, and train target to match class probabilities	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𝐶𝐸</m:t>
                        </m:r>
                      </m:sub>
                    </m:sSub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+(1−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EF6506-EEE6-7EFD-F520-8C4518AEDB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 r="-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47270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3000A-70AD-D256-097B-BA54A2BE8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Concepts [TBD]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45992-B438-429C-31D5-4663219FA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Learning good representations</a:t>
            </a:r>
          </a:p>
          <a:p>
            <a:r>
              <a:rPr lang="en-US" dirty="0"/>
              <a:t>Knowledge distillation</a:t>
            </a:r>
          </a:p>
          <a:p>
            <a:r>
              <a:rPr lang="en-US" dirty="0"/>
              <a:t>Detecting and alleviating biases in models</a:t>
            </a:r>
          </a:p>
        </p:txBody>
      </p:sp>
    </p:spTree>
    <p:extLst>
      <p:ext uri="{BB962C8B-B14F-4D97-AF65-F5344CB8AC3E}">
        <p14:creationId xmlns:p14="http://schemas.microsoft.com/office/powerpoint/2010/main" val="1913838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835"/>
    </mc:Choice>
    <mc:Fallback xmlns="">
      <p:transition spd="slow" advTm="14835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ECFB1-85B5-73C9-D540-44857D68C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650FE-7847-9768-5A0E-F9544660B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Discussed:</a:t>
            </a:r>
          </a:p>
          <a:p>
            <a:pPr lvl="1"/>
            <a:r>
              <a:rPr lang="en-US" dirty="0"/>
              <a:t>Fundamentals</a:t>
            </a:r>
          </a:p>
          <a:p>
            <a:pPr lvl="1"/>
            <a:r>
              <a:rPr lang="en-US" dirty="0"/>
              <a:t>Building blocks</a:t>
            </a:r>
          </a:p>
          <a:p>
            <a:pPr lvl="1"/>
            <a:r>
              <a:rPr lang="en-US" dirty="0"/>
              <a:t>Training &amp; </a:t>
            </a:r>
            <a:r>
              <a:rPr lang="en-US" dirty="0" err="1"/>
              <a:t>Numerics</a:t>
            </a:r>
            <a:endParaRPr lang="en-US" dirty="0"/>
          </a:p>
          <a:p>
            <a:pPr lvl="1"/>
            <a:r>
              <a:rPr lang="en-US" dirty="0"/>
              <a:t>Important considerations</a:t>
            </a:r>
          </a:p>
          <a:p>
            <a:pPr lvl="1"/>
            <a:r>
              <a:rPr lang="en-US" dirty="0"/>
              <a:t>Advanced topics</a:t>
            </a:r>
          </a:p>
          <a:p>
            <a:r>
              <a:rPr lang="en-US" dirty="0"/>
              <a:t>Please feel free to reach out to me at </a:t>
            </a:r>
            <a:r>
              <a:rPr lang="en-US" dirty="0">
                <a:hlinkClick r:id="rId2"/>
              </a:rPr>
              <a:t>aweinstein@eit.org</a:t>
            </a:r>
            <a:r>
              <a:rPr lang="en-US" dirty="0"/>
              <a:t>!</a:t>
            </a:r>
          </a:p>
          <a:p>
            <a:r>
              <a:rPr lang="en-US" dirty="0"/>
              <a:t>Please ask questions!</a:t>
            </a:r>
          </a:p>
        </p:txBody>
      </p:sp>
    </p:spTree>
    <p:extLst>
      <p:ext uri="{BB962C8B-B14F-4D97-AF65-F5344CB8AC3E}">
        <p14:creationId xmlns:p14="http://schemas.microsoft.com/office/powerpoint/2010/main" val="538633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9815</TotalTime>
  <Words>2198</Words>
  <Application>Microsoft Office PowerPoint</Application>
  <PresentationFormat>Widescreen</PresentationFormat>
  <Paragraphs>298</Paragraphs>
  <Slides>33</Slides>
  <Notes>13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Aptos Display</vt:lpstr>
      <vt:lpstr>Arial</vt:lpstr>
      <vt:lpstr>Cambria Math</vt:lpstr>
      <vt:lpstr>Office Theme</vt:lpstr>
      <vt:lpstr>Deep Learning Introduction</vt:lpstr>
      <vt:lpstr>Lecture Outline</vt:lpstr>
      <vt:lpstr>Introduction</vt:lpstr>
      <vt:lpstr>Case Study: LeNet vs AlexNet (Introduction)</vt:lpstr>
      <vt:lpstr>Deep Learning in the past 10+ years  (Introduction)</vt:lpstr>
      <vt:lpstr>Theoretical Intuitions</vt:lpstr>
      <vt:lpstr>Bias/Variance Tradeoff (Theoretical Intuitions)</vt:lpstr>
      <vt:lpstr>Regularization (Theoretical Intuitions)</vt:lpstr>
      <vt:lpstr>Vanishing, Exploding Gradients (Theoretical Intuitions)</vt:lpstr>
      <vt:lpstr>Core Building Blocks</vt:lpstr>
      <vt:lpstr>Activation Functions (Core Building Blocks)</vt:lpstr>
      <vt:lpstr>TanH (Activation Functions)</vt:lpstr>
      <vt:lpstr>Recitified Linear Unit (Activation Functions)</vt:lpstr>
      <vt:lpstr>Swish (Activation Functions)</vt:lpstr>
      <vt:lpstr>Residual Connections (Core Building Blocks)</vt:lpstr>
      <vt:lpstr>Normalization (Core Building Blocks)</vt:lpstr>
      <vt:lpstr>Different forms (Normalization)</vt:lpstr>
      <vt:lpstr>Regularization (Core Building Blocks)</vt:lpstr>
      <vt:lpstr>Outline: Training Dynamics and Optimizers</vt:lpstr>
      <vt:lpstr>Initialization (Dynamics, Optimizers)</vt:lpstr>
      <vt:lpstr>AdamW (Dynamics, Optimizers)</vt:lpstr>
      <vt:lpstr>Learning Rate Schedules (Dynamics, Optimizers)</vt:lpstr>
      <vt:lpstr>Numerics (Generalization &amp; Advanced Issues)</vt:lpstr>
      <vt:lpstr>Numerics (Generalization &amp; Advanced Issues)</vt:lpstr>
      <vt:lpstr>Debugging Checklist</vt:lpstr>
      <vt:lpstr>Outline: Advanced Topics</vt:lpstr>
      <vt:lpstr>Real-World Data Issues (Advanced Topics)</vt:lpstr>
      <vt:lpstr>Representation Learning (Advanced Topics)</vt:lpstr>
      <vt:lpstr>Representation Learning (Advanced Topics)</vt:lpstr>
      <vt:lpstr>Fine Tuning (Advanced Topics)</vt:lpstr>
      <vt:lpstr>Distillation</vt:lpstr>
      <vt:lpstr>Advanced Concepts [TBD]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Introduction</dc:title>
  <dc:creator>Ari Weinstein</dc:creator>
  <cp:lastModifiedBy>Melanie Witt</cp:lastModifiedBy>
  <cp:revision>10</cp:revision>
  <dcterms:created xsi:type="dcterms:W3CDTF">2025-09-29T09:39:47Z</dcterms:created>
  <dcterms:modified xsi:type="dcterms:W3CDTF">2025-10-31T12:22:06Z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e497794-b2e9-42d4-a950-6fa5b0b78b58_Enabled">
    <vt:lpwstr>true</vt:lpwstr>
  </property>
  <property fmtid="{D5CDD505-2E9C-101B-9397-08002B2CF9AE}" pid="3" name="MSIP_Label_ae497794-b2e9-42d4-a950-6fa5b0b78b58_SetDate">
    <vt:lpwstr>2025-10-09T16:52:03Z</vt:lpwstr>
  </property>
  <property fmtid="{D5CDD505-2E9C-101B-9397-08002B2CF9AE}" pid="4" name="MSIP_Label_ae497794-b2e9-42d4-a950-6fa5b0b78b58_Method">
    <vt:lpwstr>Standard</vt:lpwstr>
  </property>
  <property fmtid="{D5CDD505-2E9C-101B-9397-08002B2CF9AE}" pid="5" name="MSIP_Label_ae497794-b2e9-42d4-a950-6fa5b0b78b58_Name">
    <vt:lpwstr>Internal Information</vt:lpwstr>
  </property>
  <property fmtid="{D5CDD505-2E9C-101B-9397-08002B2CF9AE}" pid="6" name="MSIP_Label_ae497794-b2e9-42d4-a950-6fa5b0b78b58_SiteId">
    <vt:lpwstr>ab19b663-2295-476c-b30b-2117b0c40380</vt:lpwstr>
  </property>
  <property fmtid="{D5CDD505-2E9C-101B-9397-08002B2CF9AE}" pid="7" name="MSIP_Label_ae497794-b2e9-42d4-a950-6fa5b0b78b58_ActionId">
    <vt:lpwstr>732f01b6-6f7b-44ac-bd4c-8e4e6836d23b</vt:lpwstr>
  </property>
  <property fmtid="{D5CDD505-2E9C-101B-9397-08002B2CF9AE}" pid="8" name="MSIP_Label_ae497794-b2e9-42d4-a950-6fa5b0b78b58_ContentBits">
    <vt:lpwstr>2</vt:lpwstr>
  </property>
  <property fmtid="{D5CDD505-2E9C-101B-9397-08002B2CF9AE}" pid="9" name="MSIP_Label_ae497794-b2e9-42d4-a950-6fa5b0b78b58_Tag">
    <vt:lpwstr>50, 3, 0, 1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Internal</vt:lpwstr>
  </property>
</Properties>
</file>